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image" Target="../media/image-6-34.png"/><Relationship Id="rId35" Type="http://schemas.openxmlformats.org/officeDocument/2006/relationships/image" Target="../media/image-6-35.png"/><Relationship Id="rId36" Type="http://schemas.openxmlformats.org/officeDocument/2006/relationships/image" Target="../media/image-6-36.png"/><Relationship Id="rId37" Type="http://schemas.openxmlformats.org/officeDocument/2006/relationships/image" Target="../media/image-6-37.png"/><Relationship Id="rId38" Type="http://schemas.openxmlformats.org/officeDocument/2006/relationships/image" Target="../media/image-6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0" y="0"/>
            <a:ext cx="2381250" cy="1905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42925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438" y="3390900"/>
            <a:ext cx="9144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163" y="339090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0975" y="5372100"/>
            <a:ext cx="342900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338" y="53721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850" y="53721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0" y="5372100"/>
            <a:ext cx="457200" cy="4572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1706880" y="2076450"/>
            <a:ext cx="87782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情緒陪伴助理</a:t>
            </a:r>
            <a:endParaRPr lang="en-US" sz="4500" dirty="0"/>
          </a:p>
        </p:txBody>
      </p:sp>
      <p:sp>
        <p:nvSpPr>
          <p:cNvPr id="12" name="Text 1"/>
          <p:cNvSpPr/>
          <p:nvPr/>
        </p:nvSpPr>
        <p:spPr>
          <a:xfrm>
            <a:off x="3438525" y="2952750"/>
            <a:ext cx="53149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0D94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</a:t>
            </a:r>
            <a:endParaRPr lang="en-US" sz="7200" dirty="0"/>
          </a:p>
        </p:txBody>
      </p:sp>
      <p:sp>
        <p:nvSpPr>
          <p:cNvPr id="13" name="Text 2"/>
          <p:cNvSpPr/>
          <p:nvPr/>
        </p:nvSpPr>
        <p:spPr>
          <a:xfrm>
            <a:off x="2438400" y="4171950"/>
            <a:ext cx="731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透過語音情感識別技術與大型語言模型，提供即時、個性化的情緒支持與陪伴</a:t>
            </a:r>
            <a:endParaRPr lang="en-US" sz="1800" dirty="0"/>
          </a:p>
        </p:txBody>
      </p:sp>
      <p:sp>
        <p:nvSpPr>
          <p:cNvPr id="14" name="Text 3"/>
          <p:cNvSpPr/>
          <p:nvPr/>
        </p:nvSpPr>
        <p:spPr>
          <a:xfrm>
            <a:off x="7572375" y="5905500"/>
            <a:ext cx="960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語音情感識別</a:t>
            </a:r>
            <a:endParaRPr lang="en-US" sz="1050" dirty="0"/>
          </a:p>
        </p:txBody>
      </p:sp>
      <p:sp>
        <p:nvSpPr>
          <p:cNvPr id="15" name="Text 4"/>
          <p:cNvSpPr/>
          <p:nvPr/>
        </p:nvSpPr>
        <p:spPr>
          <a:xfrm>
            <a:off x="8677275" y="5905500"/>
            <a:ext cx="8343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對話模型</a:t>
            </a:r>
            <a:endParaRPr lang="en-US" sz="1050" dirty="0"/>
          </a:p>
        </p:txBody>
      </p:sp>
      <p:sp>
        <p:nvSpPr>
          <p:cNvPr id="16" name="Text 5"/>
          <p:cNvSpPr/>
          <p:nvPr/>
        </p:nvSpPr>
        <p:spPr>
          <a:xfrm>
            <a:off x="9677400" y="5905500"/>
            <a:ext cx="960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情緒趨勢分析</a:t>
            </a:r>
            <a:endParaRPr lang="en-US" sz="1050" dirty="0"/>
          </a:p>
        </p:txBody>
      </p:sp>
      <p:sp>
        <p:nvSpPr>
          <p:cNvPr id="17" name="Text 6"/>
          <p:cNvSpPr/>
          <p:nvPr/>
        </p:nvSpPr>
        <p:spPr>
          <a:xfrm>
            <a:off x="10782300" y="5905500"/>
            <a:ext cx="960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心理健康促進</a:t>
            </a:r>
            <a:endParaRPr lang="en-US" sz="1050" dirty="0"/>
          </a:p>
        </p:txBody>
      </p:sp>
      <p:sp>
        <p:nvSpPr>
          <p:cNvPr id="18" name="Text 7"/>
          <p:cNvSpPr/>
          <p:nvPr/>
        </p:nvSpPr>
        <p:spPr>
          <a:xfrm>
            <a:off x="304800" y="63627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專題企劃書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04900"/>
            <a:ext cx="11430000" cy="2133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33500"/>
            <a:ext cx="219075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5433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038600"/>
            <a:ext cx="3657600" cy="2095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2672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138" y="4362450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4038600"/>
            <a:ext cx="3657600" cy="2095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5800" y="42672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9150" y="43624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3400" y="4038600"/>
            <a:ext cx="3657600" cy="2095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0" y="42672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9163" y="4362450"/>
            <a:ext cx="142875" cy="2667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提案動機與目的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942975" y="135255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提案動機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609600" y="182880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現代生活節奏快速，導致廣泛性的壓力、焦慮和情緒困擾。傳統心理諮詢服務通常伴隨高昂的費用、預約時差以及社會污名化，使得許多人無法在情緒困擾當下獲得即時有效的支持。</a:t>
            </a:r>
            <a:endParaRPr lang="en-US" sz="1350" dirty="0"/>
          </a:p>
        </p:txBody>
      </p:sp>
      <p:sp>
        <p:nvSpPr>
          <p:cNvPr id="19" name="Text 3"/>
          <p:cNvSpPr/>
          <p:nvPr/>
        </p:nvSpPr>
        <p:spPr>
          <a:xfrm>
            <a:off x="609600" y="247650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情緒的表達往往超越單純的文字，語音中所蘊含的音調、速度和停頓才是理解深層情緒的關鍵。我們需要一個非侵入性、即時且能理解語音細微差異的數位陪伴工具。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781050" y="356235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核心目的</a:t>
            </a:r>
            <a:endParaRPr lang="en-US" sz="1800" dirty="0"/>
          </a:p>
        </p:txBody>
      </p:sp>
      <p:sp>
        <p:nvSpPr>
          <p:cNvPr id="21" name="Text 5"/>
          <p:cNvSpPr/>
          <p:nvPr/>
        </p:nvSpPr>
        <p:spPr>
          <a:xfrm>
            <a:off x="1219200" y="436245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提供即時的情緒支持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609600" y="48387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透過整合語音情感識別（SER）技術與大型語言模型（LLM），在使用者情緒波動的第一時間，提供高度客製化且有溫度的回覆。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5105400" y="436245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促進自我覺察與追蹤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4495800" y="48387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將每日的情緒數據化，幫助使用者清晰掌握自身情緒的週期與趨勢，從而達到更好的自我管理。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8991600" y="436245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打造多模態互動體驗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8382000" y="48387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結合語音、NLP 和數據視覺化，打破傳統心理健康應用僅依賴文字輸入的單一模式，提升互動深度與陪伴感。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381000" y="63627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MindEase：AI 情緒陪伴助理 | 2/10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5819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04900"/>
            <a:ext cx="609600" cy="1295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25730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104900"/>
            <a:ext cx="4762500" cy="1295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1304925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900" y="1104900"/>
            <a:ext cx="4762500" cy="1295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304925"/>
            <a:ext cx="133350" cy="1714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552700"/>
            <a:ext cx="609600" cy="1485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263" y="2705100"/>
            <a:ext cx="219075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0" y="2552700"/>
            <a:ext cx="4762500" cy="1485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5400" y="2752725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57900" y="2552700"/>
            <a:ext cx="4762500" cy="1485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2752725"/>
            <a:ext cx="133350" cy="1714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4191000"/>
            <a:ext cx="609600" cy="1295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2925" y="4343400"/>
            <a:ext cx="285750" cy="3429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3000" y="4191000"/>
            <a:ext cx="4762500" cy="1295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95400" y="4391025"/>
            <a:ext cx="171450" cy="1714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57900" y="4191000"/>
            <a:ext cx="4762500" cy="1295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0300" y="4391025"/>
            <a:ext cx="133350" cy="1714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5638800"/>
            <a:ext cx="609600" cy="11049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3875" y="5791200"/>
            <a:ext cx="323850" cy="3429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43000" y="5638800"/>
            <a:ext cx="4762500" cy="11049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95400" y="5838825"/>
            <a:ext cx="171450" cy="1714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57900" y="5638800"/>
            <a:ext cx="4762500" cy="11049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10300" y="5838825"/>
            <a:ext cx="133350" cy="17145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痛點分析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533400" y="1676400"/>
            <a:ext cx="304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即時性與延遲</a:t>
            </a:r>
            <a:endParaRPr lang="en-US" sz="1050" dirty="0"/>
          </a:p>
        </p:txBody>
      </p:sp>
      <p:sp>
        <p:nvSpPr>
          <p:cNvPr id="30" name="Text 2"/>
          <p:cNvSpPr/>
          <p:nvPr/>
        </p:nvSpPr>
        <p:spPr>
          <a:xfrm>
            <a:off x="1543050" y="12573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現狀問題</a:t>
            </a:r>
            <a:endParaRPr lang="en-US" sz="1350" dirty="0"/>
          </a:p>
        </p:txBody>
      </p:sp>
      <p:sp>
        <p:nvSpPr>
          <p:cNvPr id="31" name="Text 3"/>
          <p:cNvSpPr/>
          <p:nvPr/>
        </p:nvSpPr>
        <p:spPr>
          <a:xfrm>
            <a:off x="1295400" y="16002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傳統諮詢資源稀缺，無法提供 24/7 服务；現有 App 多為靜態冥想音檔或罐頭回覆。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6419850" y="12573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 解決方案</a:t>
            </a:r>
            <a:endParaRPr lang="en-US" sz="1350" dirty="0"/>
          </a:p>
        </p:txBody>
      </p:sp>
      <p:sp>
        <p:nvSpPr>
          <p:cNvPr id="33" name="Text 5"/>
          <p:cNvSpPr/>
          <p:nvPr/>
        </p:nvSpPr>
        <p:spPr>
          <a:xfrm>
            <a:off x="6210300" y="16002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語音即時反應，使用者隨時隨地可透過語音傾訴，立即獲得分析與安慰。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533400" y="3124200"/>
            <a:ext cx="304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情緒捕捉維度單一</a:t>
            </a:r>
            <a:endParaRPr lang="en-US" sz="1050" dirty="0"/>
          </a:p>
        </p:txBody>
      </p:sp>
      <p:sp>
        <p:nvSpPr>
          <p:cNvPr id="35" name="Text 7"/>
          <p:cNvSpPr/>
          <p:nvPr/>
        </p:nvSpPr>
        <p:spPr>
          <a:xfrm>
            <a:off x="1543050" y="27051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現狀問題</a:t>
            </a:r>
            <a:endParaRPr lang="en-US" sz="1350" dirty="0"/>
          </a:p>
        </p:txBody>
      </p:sp>
      <p:sp>
        <p:nvSpPr>
          <p:cNvPr id="36" name="Text 8"/>
          <p:cNvSpPr/>
          <p:nvPr/>
        </p:nvSpPr>
        <p:spPr>
          <a:xfrm>
            <a:off x="1295400" y="30480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大多數日記或聊天機器人僅依賴文字輸入，忽略了語氣、語調等語音細節。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6419850" y="27051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 解決方案</a:t>
            </a:r>
            <a:endParaRPr lang="en-US" sz="1350" dirty="0"/>
          </a:p>
        </p:txBody>
      </p:sp>
      <p:sp>
        <p:nvSpPr>
          <p:cNvPr id="38" name="Text 10"/>
          <p:cNvSpPr/>
          <p:nvPr/>
        </p:nvSpPr>
        <p:spPr>
          <a:xfrm>
            <a:off x="6210300" y="30480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多模態結合：語音分析（SER）精準捕捉情緒本質，再由 AI（LLM）根據情緒生成內容。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533400" y="4762500"/>
            <a:ext cx="304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缺乏個人化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1543050" y="43434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現狀問題</a:t>
            </a:r>
            <a:endParaRPr lang="en-US" sz="1350" dirty="0"/>
          </a:p>
        </p:txBody>
      </p:sp>
      <p:sp>
        <p:nvSpPr>
          <p:cNvPr id="41" name="Text 13"/>
          <p:cNvSpPr/>
          <p:nvPr/>
        </p:nvSpPr>
        <p:spPr>
          <a:xfrm>
            <a:off x="1295400" y="46863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基礎的情緒追蹤 App 僅記錄「今天開心嗎？」，無法針對「焦慮」或「憂鬱」提供細膩且差異化的引導。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6419850" y="43434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 解決方案</a:t>
            </a:r>
            <a:endParaRPr lang="en-US" sz="1350" dirty="0"/>
          </a:p>
        </p:txBody>
      </p:sp>
      <p:sp>
        <p:nvSpPr>
          <p:cNvPr id="43" name="Text 15"/>
          <p:cNvSpPr/>
          <p:nvPr/>
        </p:nvSpPr>
        <p:spPr>
          <a:xfrm>
            <a:off x="6210300" y="46863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根據 SER 偵測結果，動態調整 AI 回覆內容（例如，焦慮導向呼吸法，憂鬱導向同理心鼓勵）。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523875" y="6210300"/>
            <a:ext cx="323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數據無感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1543050" y="57912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現狀問題</a:t>
            </a:r>
            <a:endParaRPr lang="en-US" sz="1350" dirty="0"/>
          </a:p>
        </p:txBody>
      </p:sp>
      <p:sp>
        <p:nvSpPr>
          <p:cNvPr id="46" name="Text 18"/>
          <p:cNvSpPr/>
          <p:nvPr/>
        </p:nvSpPr>
        <p:spPr>
          <a:xfrm>
            <a:off x="1295400" y="613410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情緒紀錄分散，缺乏連續性的趨勢分析。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6419850" y="57912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 解決方案</a:t>
            </a:r>
            <a:endParaRPr lang="en-US" sz="1350" dirty="0"/>
          </a:p>
        </p:txBody>
      </p:sp>
      <p:sp>
        <p:nvSpPr>
          <p:cNvPr id="48" name="Text 20"/>
          <p:cNvSpPr/>
          <p:nvPr/>
        </p:nvSpPr>
        <p:spPr>
          <a:xfrm>
            <a:off x="6210300" y="61341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情緒趨勢統計：提供圖表視覺化，讓抽象的情緒轉化為可視的數據，便於追蹤變化。</a:t>
            </a:r>
            <a:endParaRPr lang="en-US" sz="1200" dirty="0"/>
          </a:p>
        </p:txBody>
      </p:sp>
      <p:sp>
        <p:nvSpPr>
          <p:cNvPr id="49" name="Text 21"/>
          <p:cNvSpPr/>
          <p:nvPr/>
        </p:nvSpPr>
        <p:spPr>
          <a:xfrm>
            <a:off x="381000" y="69723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MindEase：AI 情緒陪伴助理 | 3/10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10490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371600"/>
            <a:ext cx="304800" cy="381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2247900"/>
            <a:ext cx="2667000" cy="1524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400" y="24003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1750" y="2514600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800" y="28956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0800" y="31623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0800" y="34290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2247900"/>
            <a:ext cx="2667000" cy="1524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24003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25146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8956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1623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4290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9000" y="2247900"/>
            <a:ext cx="2667000" cy="1524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91400" y="240030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05700" y="25146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43800" y="28956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43800" y="31623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43800" y="34290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0" y="4324350"/>
            <a:ext cx="2667000" cy="12573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8400" y="4476750"/>
            <a:ext cx="381000" cy="3810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72225" y="4591050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9720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523875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53000" y="3009900"/>
            <a:ext cx="1143000" cy="3810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0" y="3009900"/>
            <a:ext cx="1143000" cy="3810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86500" y="3867150"/>
            <a:ext cx="381000" cy="7620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29500" y="3867150"/>
            <a:ext cx="381000" cy="7620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執行方向 - 技術架構概覽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5838825" y="2095500"/>
            <a:ext cx="617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使用者</a:t>
            </a:r>
            <a:endParaRPr lang="en-US" sz="1350" dirty="0"/>
          </a:p>
        </p:txBody>
      </p:sp>
      <p:sp>
        <p:nvSpPr>
          <p:cNvPr id="35" name="Text 2"/>
          <p:cNvSpPr/>
          <p:nvPr/>
        </p:nvSpPr>
        <p:spPr>
          <a:xfrm>
            <a:off x="2933700" y="2457450"/>
            <a:ext cx="7493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前端/UI</a:t>
            </a:r>
            <a:endParaRPr lang="en-US" sz="1500" dirty="0"/>
          </a:p>
        </p:txBody>
      </p:sp>
      <p:sp>
        <p:nvSpPr>
          <p:cNvPr id="36" name="Text 3"/>
          <p:cNvSpPr/>
          <p:nvPr/>
        </p:nvSpPr>
        <p:spPr>
          <a:xfrm>
            <a:off x="2628900" y="28575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Flutter 跨平台 UI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2628900" y="31242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語音錄製功能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2628900" y="33909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API 請求與數據視覺化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6743700" y="2457450"/>
            <a:ext cx="9018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後端/API</a:t>
            </a:r>
            <a:endParaRPr lang="en-US" sz="1500" dirty="0"/>
          </a:p>
        </p:txBody>
      </p:sp>
      <p:sp>
        <p:nvSpPr>
          <p:cNvPr id="40" name="Text 7"/>
          <p:cNvSpPr/>
          <p:nvPr/>
        </p:nvSpPr>
        <p:spPr>
          <a:xfrm>
            <a:off x="6438900" y="28575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Flask (Python) 伺服器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6438900" y="31242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處理 HTTP 請求</a:t>
            </a:r>
            <a:endParaRPr lang="en-US" sz="1200" dirty="0"/>
          </a:p>
        </p:txBody>
      </p:sp>
      <p:sp>
        <p:nvSpPr>
          <p:cNvPr id="42" name="Text 9"/>
          <p:cNvSpPr/>
          <p:nvPr/>
        </p:nvSpPr>
        <p:spPr>
          <a:xfrm>
            <a:off x="6438900" y="33909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中轉音訊與呼叫 API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7886700" y="2457450"/>
            <a:ext cx="7493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模型</a:t>
            </a:r>
            <a:endParaRPr lang="en-US" sz="1500" dirty="0"/>
          </a:p>
        </p:txBody>
      </p:sp>
      <p:sp>
        <p:nvSpPr>
          <p:cNvPr id="44" name="Text 11"/>
          <p:cNvSpPr/>
          <p:nvPr/>
        </p:nvSpPr>
        <p:spPr>
          <a:xfrm>
            <a:off x="7581900" y="28575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SER 情感識別模型</a:t>
            </a:r>
            <a:endParaRPr lang="en-US" sz="1200" dirty="0"/>
          </a:p>
        </p:txBody>
      </p:sp>
      <p:sp>
        <p:nvSpPr>
          <p:cNvPr id="45" name="Text 12"/>
          <p:cNvSpPr/>
          <p:nvPr/>
        </p:nvSpPr>
        <p:spPr>
          <a:xfrm>
            <a:off x="7581900" y="31242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根據音訊特徵判斷情緒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7581900" y="33909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Gemini / OpenAI API</a:t>
            </a:r>
            <a:endParaRPr lang="en-US" sz="1200" dirty="0"/>
          </a:p>
        </p:txBody>
      </p:sp>
      <p:sp>
        <p:nvSpPr>
          <p:cNvPr id="47" name="Text 14"/>
          <p:cNvSpPr/>
          <p:nvPr/>
        </p:nvSpPr>
        <p:spPr>
          <a:xfrm>
            <a:off x="6743700" y="453390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資料庫</a:t>
            </a:r>
            <a:endParaRPr lang="en-US" sz="1500" dirty="0"/>
          </a:p>
        </p:txBody>
      </p:sp>
      <p:sp>
        <p:nvSpPr>
          <p:cNvPr id="48" name="Text 15"/>
          <p:cNvSpPr/>
          <p:nvPr/>
        </p:nvSpPr>
        <p:spPr>
          <a:xfrm>
            <a:off x="6438900" y="493395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Firebase / SQLite</a:t>
            </a:r>
            <a:endParaRPr lang="en-US" sz="1200" dirty="0"/>
          </a:p>
        </p:txBody>
      </p:sp>
      <p:sp>
        <p:nvSpPr>
          <p:cNvPr id="49" name="Text 16"/>
          <p:cNvSpPr/>
          <p:nvPr/>
        </p:nvSpPr>
        <p:spPr>
          <a:xfrm>
            <a:off x="6438900" y="520065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儲存使用者情緒日記與趨勢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3429000" y="3200400"/>
            <a:ext cx="6400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語音數據</a:t>
            </a:r>
            <a:endParaRPr lang="en-US" sz="1050" dirty="0"/>
          </a:p>
        </p:txBody>
      </p:sp>
      <p:sp>
        <p:nvSpPr>
          <p:cNvPr id="51" name="Text 18"/>
          <p:cNvSpPr/>
          <p:nvPr/>
        </p:nvSpPr>
        <p:spPr>
          <a:xfrm>
            <a:off x="8333184" y="3200400"/>
            <a:ext cx="515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回覆</a:t>
            </a:r>
            <a:endParaRPr lang="en-US" sz="1050" dirty="0"/>
          </a:p>
        </p:txBody>
      </p:sp>
      <p:sp>
        <p:nvSpPr>
          <p:cNvPr id="52" name="Text 19"/>
          <p:cNvSpPr/>
          <p:nvPr/>
        </p:nvSpPr>
        <p:spPr>
          <a:xfrm>
            <a:off x="6134100" y="3962400"/>
            <a:ext cx="6400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情緒數據</a:t>
            </a:r>
            <a:endParaRPr lang="en-US" sz="1050" dirty="0"/>
          </a:p>
        </p:txBody>
      </p:sp>
      <p:sp>
        <p:nvSpPr>
          <p:cNvPr id="53" name="Text 20"/>
          <p:cNvSpPr/>
          <p:nvPr/>
        </p:nvSpPr>
        <p:spPr>
          <a:xfrm>
            <a:off x="7429500" y="39624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使用者數據</a:t>
            </a:r>
            <a:endParaRPr lang="en-US" sz="1050" dirty="0"/>
          </a:p>
        </p:txBody>
      </p:sp>
      <p:sp>
        <p:nvSpPr>
          <p:cNvPr id="54" name="Text 21"/>
          <p:cNvSpPr/>
          <p:nvPr/>
        </p:nvSpPr>
        <p:spPr>
          <a:xfrm>
            <a:off x="9459218" y="6477000"/>
            <a:ext cx="2822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MindEase：AI 情緒陪伴助理 | 4/10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09700"/>
            <a:ext cx="3657600" cy="2743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383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17716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40030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04800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69570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1409700"/>
            <a:ext cx="3657600" cy="2743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5800" y="16383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8675" y="177165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2400300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3048000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5800" y="342900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3400" y="1409700"/>
            <a:ext cx="3657600" cy="27432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0" y="163830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82025" y="1771650"/>
            <a:ext cx="171450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0" y="2400300"/>
            <a:ext cx="171450" cy="1714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0" y="3048000"/>
            <a:ext cx="171450" cy="1714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0" y="3429000"/>
            <a:ext cx="171450" cy="1714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4457700"/>
            <a:ext cx="11430000" cy="13335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" y="4819650"/>
            <a:ext cx="541437" cy="6096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階段一：前端設計與框架建立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381000" y="866775"/>
            <a:ext cx="106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</a:t>
            </a:r>
            <a:endParaRPr lang="en-US" sz="1200" dirty="0"/>
          </a:p>
        </p:txBody>
      </p:sp>
      <p:sp>
        <p:nvSpPr>
          <p:cNvPr id="26" name="Text 2"/>
          <p:cNvSpPr/>
          <p:nvPr/>
        </p:nvSpPr>
        <p:spPr>
          <a:xfrm>
            <a:off x="1333500" y="1771650"/>
            <a:ext cx="19052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UI/UX 核心設計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857250" y="2362200"/>
            <a:ext cx="2952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設計極簡、溫暖的主畫面（語音輸入介面）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857250" y="3009900"/>
            <a:ext cx="2952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開發情緒回覆頁面，提供直觀的情感反饋</a:t>
            </a:r>
            <a:endParaRPr lang="en-US" sz="1350" dirty="0"/>
          </a:p>
        </p:txBody>
      </p:sp>
      <p:sp>
        <p:nvSpPr>
          <p:cNvPr id="29" name="Text 5"/>
          <p:cNvSpPr/>
          <p:nvPr/>
        </p:nvSpPr>
        <p:spPr>
          <a:xfrm>
            <a:off x="857250" y="3657600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優化使用者體驗，確保操作直覺且直觀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5219700" y="1771650"/>
            <a:ext cx="1645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基礎功能實作</a:t>
            </a:r>
            <a:endParaRPr lang="en-US" sz="1800" dirty="0"/>
          </a:p>
        </p:txBody>
      </p:sp>
      <p:sp>
        <p:nvSpPr>
          <p:cNvPr id="31" name="Text 7"/>
          <p:cNvSpPr/>
          <p:nvPr/>
        </p:nvSpPr>
        <p:spPr>
          <a:xfrm>
            <a:off x="4743450" y="2362200"/>
            <a:ext cx="2952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整合 record 套件實現穩定的語音錄製功能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4743450" y="3009900"/>
            <a:ext cx="288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實現語音播放與刪除等基本操作</a:t>
            </a:r>
            <a:endParaRPr lang="en-US" sz="1350" dirty="0"/>
          </a:p>
        </p:txBody>
      </p:sp>
      <p:sp>
        <p:nvSpPr>
          <p:cNvPr id="33" name="Text 9"/>
          <p:cNvSpPr/>
          <p:nvPr/>
        </p:nvSpPr>
        <p:spPr>
          <a:xfrm>
            <a:off x="4743450" y="3390900"/>
            <a:ext cx="2952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建立語音訊號視覺化顯示，增強使用者互動感</a:t>
            </a:r>
            <a:endParaRPr lang="en-US" sz="1350" dirty="0"/>
          </a:p>
        </p:txBody>
      </p:sp>
      <p:sp>
        <p:nvSpPr>
          <p:cNvPr id="34" name="Text 10"/>
          <p:cNvSpPr/>
          <p:nvPr/>
        </p:nvSpPr>
        <p:spPr>
          <a:xfrm>
            <a:off x="9105900" y="177165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跨平台優勢</a:t>
            </a:r>
            <a:endParaRPr lang="en-US" sz="1800" dirty="0"/>
          </a:p>
        </p:txBody>
      </p:sp>
      <p:sp>
        <p:nvSpPr>
          <p:cNvPr id="35" name="Text 11"/>
          <p:cNvSpPr/>
          <p:nvPr/>
        </p:nvSpPr>
        <p:spPr>
          <a:xfrm>
            <a:off x="8629650" y="2362200"/>
            <a:ext cx="2952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利用 Flutter 確保 App 在 iOS 和 Android 裝置上均能流暢運行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8629650" y="3009900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一次撰寫，多平台部署，縮短開發時間</a:t>
            </a:r>
            <a:endParaRPr lang="en-US" sz="1350" dirty="0"/>
          </a:p>
        </p:txBody>
      </p:sp>
      <p:sp>
        <p:nvSpPr>
          <p:cNvPr id="37" name="Text 13"/>
          <p:cNvSpPr/>
          <p:nvPr/>
        </p:nvSpPr>
        <p:spPr>
          <a:xfrm>
            <a:off x="8629650" y="3390900"/>
            <a:ext cx="2952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精緻展示 UI 界面，提供一致的使用者體驗</a:t>
            </a:r>
            <a:endParaRPr lang="en-US" sz="1350" dirty="0"/>
          </a:p>
        </p:txBody>
      </p:sp>
      <p:sp>
        <p:nvSpPr>
          <p:cNvPr id="38" name="Text 14"/>
          <p:cNvSpPr/>
          <p:nvPr/>
        </p:nvSpPr>
        <p:spPr>
          <a:xfrm>
            <a:off x="1303437" y="4686300"/>
            <a:ext cx="10278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Flutter 前端架構優勢</a:t>
            </a:r>
            <a:endParaRPr lang="en-US" sz="1500" dirty="0"/>
          </a:p>
        </p:txBody>
      </p:sp>
      <p:sp>
        <p:nvSpPr>
          <p:cNvPr id="39" name="Text 15"/>
          <p:cNvSpPr/>
          <p:nvPr/>
        </p:nvSpPr>
        <p:spPr>
          <a:xfrm>
            <a:off x="1303437" y="5029200"/>
            <a:ext cx="102789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採用現代化、跨平台的技術棧，結合語音分析與 AI 回應，打造流暢的使用者互動體驗。透過狀態管理與組件化設計，確保應用程式的穩定性與可擴展性。</a:t>
            </a:r>
            <a:endParaRPr lang="en-US" sz="1350" dirty="0"/>
          </a:p>
        </p:txBody>
      </p:sp>
      <p:sp>
        <p:nvSpPr>
          <p:cNvPr id="40" name="Text 16"/>
          <p:cNvSpPr/>
          <p:nvPr/>
        </p:nvSpPr>
        <p:spPr>
          <a:xfrm>
            <a:off x="381000" y="60198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MindEase：AI 情緒陪伴助理 | 5/10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0" y="0"/>
            <a:ext cx="2381250" cy="1905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42925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1790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139065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9050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2098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5146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124200"/>
            <a:ext cx="5600700" cy="1790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3147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" y="340995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9243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42291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5339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1104900"/>
            <a:ext cx="5600700" cy="2438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129540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0338" y="1390650"/>
            <a:ext cx="238125" cy="2667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1866900"/>
            <a:ext cx="304800" cy="3810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19621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2400300"/>
            <a:ext cx="323850" cy="381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2495550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2933700"/>
            <a:ext cx="342900" cy="3810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3028950"/>
            <a:ext cx="19050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10300" y="3771900"/>
            <a:ext cx="5600700" cy="26670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3962400"/>
            <a:ext cx="457200" cy="4572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19863" y="4057650"/>
            <a:ext cx="219075" cy="2667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162800" y="4572000"/>
            <a:ext cx="1524000" cy="7620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9075" y="4686300"/>
            <a:ext cx="171450" cy="3048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82050" y="4943475"/>
            <a:ext cx="457200" cy="1905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334500" y="4572000"/>
            <a:ext cx="1524000" cy="7620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982200" y="4686300"/>
            <a:ext cx="228600" cy="30480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162800" y="5486400"/>
            <a:ext cx="1524000" cy="76200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10500" y="5600700"/>
            <a:ext cx="228600" cy="30480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782050" y="5857875"/>
            <a:ext cx="457200" cy="1905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334500" y="5486400"/>
            <a:ext cx="1524000" cy="76200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982200" y="5600700"/>
            <a:ext cx="228600" cy="304800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階段二：後端API與AI模型整合</a:t>
            </a:r>
            <a:endParaRPr lang="en-US" sz="2700" dirty="0"/>
          </a:p>
        </p:txBody>
      </p:sp>
      <p:sp>
        <p:nvSpPr>
          <p:cNvPr id="41" name="Text 1"/>
          <p:cNvSpPr/>
          <p:nvPr/>
        </p:nvSpPr>
        <p:spPr>
          <a:xfrm>
            <a:off x="1181100" y="1390650"/>
            <a:ext cx="13590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API 服務建構</a:t>
            </a:r>
            <a:endParaRPr lang="en-US" sz="1500" dirty="0"/>
          </a:p>
        </p:txBody>
      </p:sp>
      <p:sp>
        <p:nvSpPr>
          <p:cNvPr id="42" name="Text 2"/>
          <p:cNvSpPr/>
          <p:nvPr/>
        </p:nvSpPr>
        <p:spPr>
          <a:xfrm>
            <a:off x="800100" y="1866900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Flask 伺服器，處理 HTTP 請求與中轉音訊</a:t>
            </a:r>
            <a:endParaRPr lang="en-US" sz="1200" dirty="0"/>
          </a:p>
        </p:txBody>
      </p:sp>
      <p:sp>
        <p:nvSpPr>
          <p:cNvPr id="43" name="Text 3"/>
          <p:cNvSpPr/>
          <p:nvPr/>
        </p:nvSpPr>
        <p:spPr>
          <a:xfrm>
            <a:off x="800100" y="2171700"/>
            <a:ext cx="3312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設計 RESTful API 端點，支援非同步處理</a:t>
            </a:r>
            <a:endParaRPr lang="en-US" sz="1200" dirty="0"/>
          </a:p>
        </p:txBody>
      </p:sp>
      <p:sp>
        <p:nvSpPr>
          <p:cNvPr id="44" name="Text 4"/>
          <p:cNvSpPr/>
          <p:nvPr/>
        </p:nvSpPr>
        <p:spPr>
          <a:xfrm>
            <a:off x="800100" y="2476500"/>
            <a:ext cx="3444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整合 Render 部署，確保高可用性與擴展性</a:t>
            </a:r>
            <a:endParaRPr lang="en-US" sz="1200" dirty="0"/>
          </a:p>
        </p:txBody>
      </p:sp>
      <p:sp>
        <p:nvSpPr>
          <p:cNvPr id="45" name="Text 5"/>
          <p:cNvSpPr/>
          <p:nvPr/>
        </p:nvSpPr>
        <p:spPr>
          <a:xfrm>
            <a:off x="1181100" y="3409950"/>
            <a:ext cx="14480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SER 模型部署</a:t>
            </a:r>
            <a:endParaRPr lang="en-US" sz="1500" dirty="0"/>
          </a:p>
        </p:txBody>
      </p:sp>
      <p:sp>
        <p:nvSpPr>
          <p:cNvPr id="46" name="Text 6"/>
          <p:cNvSpPr/>
          <p:nvPr/>
        </p:nvSpPr>
        <p:spPr>
          <a:xfrm>
            <a:off x="800100" y="3886200"/>
            <a:ext cx="40001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使用預訓練 SER 模型（基於 RAVDESS 數據集）</a:t>
            </a:r>
            <a:endParaRPr lang="en-US" sz="1200" dirty="0"/>
          </a:p>
        </p:txBody>
      </p:sp>
      <p:sp>
        <p:nvSpPr>
          <p:cNvPr id="47" name="Text 7"/>
          <p:cNvSpPr/>
          <p:nvPr/>
        </p:nvSpPr>
        <p:spPr>
          <a:xfrm>
            <a:off x="800100" y="4191000"/>
            <a:ext cx="4044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模型輸出情緒類別（如 calm, anxiety）及信心分數</a:t>
            </a:r>
            <a:endParaRPr lang="en-US" sz="1200" dirty="0"/>
          </a:p>
        </p:txBody>
      </p:sp>
      <p:sp>
        <p:nvSpPr>
          <p:cNvPr id="48" name="Text 8"/>
          <p:cNvSpPr/>
          <p:nvPr/>
        </p:nvSpPr>
        <p:spPr>
          <a:xfrm>
            <a:off x="800100" y="4495800"/>
            <a:ext cx="3333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部署至 Render 服務，供 Flutter 前端調用</a:t>
            </a:r>
            <a:endParaRPr lang="en-US" sz="1200" dirty="0"/>
          </a:p>
        </p:txBody>
      </p:sp>
      <p:sp>
        <p:nvSpPr>
          <p:cNvPr id="49" name="Text 9"/>
          <p:cNvSpPr/>
          <p:nvPr/>
        </p:nvSpPr>
        <p:spPr>
          <a:xfrm>
            <a:off x="7010400" y="1390650"/>
            <a:ext cx="1422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 API 端點</a:t>
            </a:r>
            <a:endParaRPr lang="en-US" sz="1500" dirty="0"/>
          </a:p>
        </p:txBody>
      </p:sp>
      <p:sp>
        <p:nvSpPr>
          <p:cNvPr id="50" name="Text 10"/>
          <p:cNvSpPr/>
          <p:nvPr/>
        </p:nvSpPr>
        <p:spPr>
          <a:xfrm>
            <a:off x="6819900" y="18669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/upload_audio</a:t>
            </a:r>
            <a:endParaRPr lang="en-US" sz="1200" dirty="0"/>
          </a:p>
        </p:txBody>
      </p:sp>
      <p:sp>
        <p:nvSpPr>
          <p:cNvPr id="51" name="Text 11"/>
          <p:cNvSpPr/>
          <p:nvPr/>
        </p:nvSpPr>
        <p:spPr>
          <a:xfrm>
            <a:off x="6819900" y="2095500"/>
            <a:ext cx="2240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接收音訊檔案，儲存並準備分析</a:t>
            </a:r>
            <a:endParaRPr lang="en-US" sz="1050" dirty="0"/>
          </a:p>
        </p:txBody>
      </p:sp>
      <p:sp>
        <p:nvSpPr>
          <p:cNvPr id="52" name="Text 12"/>
          <p:cNvSpPr/>
          <p:nvPr/>
        </p:nvSpPr>
        <p:spPr>
          <a:xfrm>
            <a:off x="6838950" y="2400300"/>
            <a:ext cx="2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/analyze_emotion</a:t>
            </a:r>
            <a:endParaRPr lang="en-US" sz="1200" dirty="0"/>
          </a:p>
        </p:txBody>
      </p:sp>
      <p:sp>
        <p:nvSpPr>
          <p:cNvPr id="53" name="Text 13"/>
          <p:cNvSpPr/>
          <p:nvPr/>
        </p:nvSpPr>
        <p:spPr>
          <a:xfrm>
            <a:off x="6838950" y="2628900"/>
            <a:ext cx="26583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運行 SER 模型，輸出情緒類別與分數</a:t>
            </a:r>
            <a:endParaRPr lang="en-US" sz="1050" dirty="0"/>
          </a:p>
        </p:txBody>
      </p:sp>
      <p:sp>
        <p:nvSpPr>
          <p:cNvPr id="54" name="Text 14"/>
          <p:cNvSpPr/>
          <p:nvPr/>
        </p:nvSpPr>
        <p:spPr>
          <a:xfrm>
            <a:off x="6858000" y="2933700"/>
            <a:ext cx="25269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/get_response</a:t>
            </a:r>
            <a:endParaRPr lang="en-US" sz="1200" dirty="0"/>
          </a:p>
        </p:txBody>
      </p:sp>
      <p:sp>
        <p:nvSpPr>
          <p:cNvPr id="55" name="Text 15"/>
          <p:cNvSpPr/>
          <p:nvPr/>
        </p:nvSpPr>
        <p:spPr>
          <a:xfrm>
            <a:off x="6858000" y="3162300"/>
            <a:ext cx="30323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呼叫 Gemini/OpenAI API，生成個性化回覆</a:t>
            </a:r>
            <a:endParaRPr lang="en-US" sz="1050" dirty="0"/>
          </a:p>
        </p:txBody>
      </p:sp>
      <p:sp>
        <p:nvSpPr>
          <p:cNvPr id="56" name="Text 16"/>
          <p:cNvSpPr/>
          <p:nvPr/>
        </p:nvSpPr>
        <p:spPr>
          <a:xfrm>
            <a:off x="7010400" y="4057650"/>
            <a:ext cx="14987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多模態 AI 整合</a:t>
            </a:r>
            <a:endParaRPr lang="en-US" sz="1500" dirty="0"/>
          </a:p>
        </p:txBody>
      </p:sp>
      <p:sp>
        <p:nvSpPr>
          <p:cNvPr id="57" name="Text 17"/>
          <p:cNvSpPr/>
          <p:nvPr/>
        </p:nvSpPr>
        <p:spPr>
          <a:xfrm>
            <a:off x="7277100" y="50292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語音輸入</a:t>
            </a:r>
            <a:endParaRPr lang="en-US" sz="1050" dirty="0"/>
          </a:p>
        </p:txBody>
      </p:sp>
      <p:sp>
        <p:nvSpPr>
          <p:cNvPr id="58" name="Text 18"/>
          <p:cNvSpPr/>
          <p:nvPr/>
        </p:nvSpPr>
        <p:spPr>
          <a:xfrm>
            <a:off x="9448800" y="50292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SER 模型</a:t>
            </a:r>
            <a:endParaRPr lang="en-US" sz="1050" dirty="0"/>
          </a:p>
        </p:txBody>
      </p:sp>
      <p:sp>
        <p:nvSpPr>
          <p:cNvPr id="59" name="Text 19"/>
          <p:cNvSpPr/>
          <p:nvPr/>
        </p:nvSpPr>
        <p:spPr>
          <a:xfrm>
            <a:off x="7277100" y="59436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情緒分析</a:t>
            </a:r>
            <a:endParaRPr lang="en-US" sz="1050" dirty="0"/>
          </a:p>
        </p:txBody>
      </p:sp>
      <p:sp>
        <p:nvSpPr>
          <p:cNvPr id="60" name="Text 20"/>
          <p:cNvSpPr/>
          <p:nvPr/>
        </p:nvSpPr>
        <p:spPr>
          <a:xfrm>
            <a:off x="9448800" y="59436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LLM 回覆</a:t>
            </a:r>
            <a:endParaRPr lang="en-US" sz="1050" dirty="0"/>
          </a:p>
        </p:txBody>
      </p:sp>
      <p:sp>
        <p:nvSpPr>
          <p:cNvPr id="61" name="Text 21"/>
          <p:cNvSpPr/>
          <p:nvPr/>
        </p:nvSpPr>
        <p:spPr>
          <a:xfrm>
            <a:off x="9459218" y="6477000"/>
            <a:ext cx="2822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MindEase：AI 情緒陪伴助理 | 6/10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09700"/>
            <a:ext cx="3657600" cy="3086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383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733550"/>
            <a:ext cx="171450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28600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93370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31470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1409700"/>
            <a:ext cx="3657600" cy="3086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5800" y="16383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9150" y="17335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2286000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2667000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5800" y="3048000"/>
            <a:ext cx="2286000" cy="1143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3400" y="1409700"/>
            <a:ext cx="3657600" cy="3086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0" y="163830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15350" y="173355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0" y="2286000"/>
            <a:ext cx="171450" cy="1714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0" y="2667000"/>
            <a:ext cx="171450" cy="1714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0" y="3048000"/>
            <a:ext cx="171450" cy="1714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01200" y="3429000"/>
            <a:ext cx="762000" cy="7620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1000" y="4724400"/>
            <a:ext cx="11430000" cy="762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3400" y="4914900"/>
            <a:ext cx="142875" cy="2667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階段三：数据与深度功能开发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381000" y="866775"/>
            <a:ext cx="106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</a:t>
            </a:r>
            <a:endParaRPr lang="en-US" sz="1200" dirty="0"/>
          </a:p>
        </p:txBody>
      </p:sp>
      <p:sp>
        <p:nvSpPr>
          <p:cNvPr id="27" name="Text 2"/>
          <p:cNvSpPr/>
          <p:nvPr/>
        </p:nvSpPr>
        <p:spPr>
          <a:xfrm>
            <a:off x="1219200" y="171450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数据持久化</a:t>
            </a:r>
            <a:endParaRPr lang="en-US" sz="1800" dirty="0"/>
          </a:p>
        </p:txBody>
      </p:sp>
      <p:sp>
        <p:nvSpPr>
          <p:cNvPr id="28" name="Text 3"/>
          <p:cNvSpPr/>
          <p:nvPr/>
        </p:nvSpPr>
        <p:spPr>
          <a:xfrm>
            <a:off x="857250" y="2247900"/>
            <a:ext cx="2952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 Firebase 或 SQLite 储存每日情绪纪录</a:t>
            </a:r>
            <a:endParaRPr lang="en-US" sz="1350" dirty="0"/>
          </a:p>
        </p:txBody>
      </p:sp>
      <p:sp>
        <p:nvSpPr>
          <p:cNvPr id="29" name="Text 4"/>
          <p:cNvSpPr/>
          <p:nvPr/>
        </p:nvSpPr>
        <p:spPr>
          <a:xfrm>
            <a:off x="857250" y="2895600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记录包含时间戳、情绪类别和语音摘要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857250" y="3276600"/>
            <a:ext cx="2674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确保数据安全与用户隐私保护</a:t>
            </a:r>
            <a:endParaRPr lang="en-US" sz="1350" dirty="0"/>
          </a:p>
        </p:txBody>
      </p:sp>
      <p:sp>
        <p:nvSpPr>
          <p:cNvPr id="31" name="Text 6"/>
          <p:cNvSpPr/>
          <p:nvPr/>
        </p:nvSpPr>
        <p:spPr>
          <a:xfrm>
            <a:off x="5105400" y="1714500"/>
            <a:ext cx="1920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情绪趋势可视化</a:t>
            </a:r>
            <a:endParaRPr lang="en-US" sz="1800" dirty="0"/>
          </a:p>
        </p:txBody>
      </p:sp>
      <p:sp>
        <p:nvSpPr>
          <p:cNvPr id="32" name="Text 7"/>
          <p:cNvSpPr/>
          <p:nvPr/>
        </p:nvSpPr>
        <p:spPr>
          <a:xfrm>
            <a:off x="4743450" y="2247900"/>
            <a:ext cx="30521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整合 fl_chart 套件实现数据可视化</a:t>
            </a:r>
            <a:endParaRPr lang="en-US" sz="1350" dirty="0"/>
          </a:p>
        </p:txBody>
      </p:sp>
      <p:sp>
        <p:nvSpPr>
          <p:cNvPr id="33" name="Text 8"/>
          <p:cNvSpPr/>
          <p:nvPr/>
        </p:nvSpPr>
        <p:spPr>
          <a:xfrm>
            <a:off x="4743450" y="2628900"/>
            <a:ext cx="3349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展示一周/一月的情绪折线图与圆饼图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8991600" y="1714500"/>
            <a:ext cx="17221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冥想/呼吸引导</a:t>
            </a:r>
            <a:endParaRPr lang="en-US" sz="1800" dirty="0"/>
          </a:p>
        </p:txBody>
      </p:sp>
      <p:sp>
        <p:nvSpPr>
          <p:cNvPr id="35" name="Text 10"/>
          <p:cNvSpPr/>
          <p:nvPr/>
        </p:nvSpPr>
        <p:spPr>
          <a:xfrm>
            <a:off x="8629650" y="2247900"/>
            <a:ext cx="21147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实作专门的冥想模式 UI</a:t>
            </a:r>
            <a:endParaRPr lang="en-US" sz="1350" dirty="0"/>
          </a:p>
        </p:txBody>
      </p:sp>
      <p:sp>
        <p:nvSpPr>
          <p:cNvPr id="36" name="Text 11"/>
          <p:cNvSpPr/>
          <p:nvPr/>
        </p:nvSpPr>
        <p:spPr>
          <a:xfrm>
            <a:off x="8629650" y="2628900"/>
            <a:ext cx="2468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提供视觉化的呼吸节奏动画</a:t>
            </a: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8629650" y="3009900"/>
            <a:ext cx="2674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针对高焦虑情绪提供特别引导</a:t>
            </a:r>
            <a:endParaRPr lang="en-US" sz="1350" dirty="0"/>
          </a:p>
        </p:txBody>
      </p:sp>
      <p:sp>
        <p:nvSpPr>
          <p:cNvPr id="38" name="Text 13"/>
          <p:cNvSpPr/>
          <p:nvPr/>
        </p:nvSpPr>
        <p:spPr>
          <a:xfrm>
            <a:off x="9848850" y="3714750"/>
            <a:ext cx="320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呼吸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790575" y="4876800"/>
            <a:ext cx="1086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实现重点：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阶段三功能将增强 MindEase 的实用性与深度，通过数据追踪提升用户情绪自我觉察能力，并提供即时的情绪调节工具。数据库设计与可视化界面将紧密配合，形成完整的数据闭环。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381000" y="57150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MindEase：AI 情緒陪伴助理 | 7/10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086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81100"/>
            <a:ext cx="11430000" cy="10668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716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667000"/>
            <a:ext cx="1981200" cy="1714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2819400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3063" y="2952750"/>
            <a:ext cx="219075" cy="342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53875" y="3390900"/>
            <a:ext cx="142875" cy="228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2667000"/>
            <a:ext cx="1981200" cy="1714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28194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7225" y="2952750"/>
            <a:ext cx="3619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53875" y="3390900"/>
            <a:ext cx="142875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667000"/>
            <a:ext cx="1981200" cy="1714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0" y="2819400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62825" y="2952750"/>
            <a:ext cx="361950" cy="342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53875" y="3390900"/>
            <a:ext cx="142875" cy="228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48800" y="2667000"/>
            <a:ext cx="1981200" cy="17145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34600" y="2819400"/>
            <a:ext cx="609600" cy="6096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58425" y="2952750"/>
            <a:ext cx="361950" cy="3429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4800600"/>
            <a:ext cx="5600700" cy="19050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5029200"/>
            <a:ext cx="238125" cy="1905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54102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57150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60198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63246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10300" y="4800600"/>
            <a:ext cx="5600700" cy="19050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5029200"/>
            <a:ext cx="142875" cy="1905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0800" y="5410200"/>
            <a:ext cx="171450" cy="1524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00800" y="5715000"/>
            <a:ext cx="171450" cy="1524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00800" y="6019800"/>
            <a:ext cx="171450" cy="1524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00800" y="6324600"/>
            <a:ext cx="17145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成效預估 - 技術可行性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914400" y="1371600"/>
            <a:ext cx="1920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技術可行性展示</a:t>
            </a:r>
            <a:endParaRPr lang="en-US" sz="1800" dirty="0"/>
          </a:p>
        </p:txBody>
      </p:sp>
      <p:sp>
        <p:nvSpPr>
          <p:cNvPr id="35" name="Text 2"/>
          <p:cNvSpPr/>
          <p:nvPr/>
        </p:nvSpPr>
        <p:spPr>
          <a:xfrm>
            <a:off x="571500" y="1790700"/>
            <a:ext cx="1325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成功演示語音錄製 → 伺服器上傳/分析 → AI 即時回覆的完整工作流程，證明多模態AI整合的技術價值。</a:t>
            </a:r>
            <a:endParaRPr lang="en-US" sz="1350" dirty="0"/>
          </a:p>
        </p:txBody>
      </p:sp>
      <p:sp>
        <p:nvSpPr>
          <p:cNvPr id="36" name="Text 3"/>
          <p:cNvSpPr/>
          <p:nvPr/>
        </p:nvSpPr>
        <p:spPr>
          <a:xfrm>
            <a:off x="914400" y="35433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語音錄製</a:t>
            </a:r>
            <a:endParaRPr lang="en-US" sz="1350" dirty="0"/>
          </a:p>
        </p:txBody>
      </p:sp>
      <p:sp>
        <p:nvSpPr>
          <p:cNvPr id="37" name="Text 4"/>
          <p:cNvSpPr/>
          <p:nvPr/>
        </p:nvSpPr>
        <p:spPr>
          <a:xfrm>
            <a:off x="914400" y="3848100"/>
            <a:ext cx="167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使用Flutter實現穩定的語音錄製功能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3642360" y="3543300"/>
            <a:ext cx="2011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伺服器上傳/分析</a:t>
            </a:r>
            <a:endParaRPr lang="en-US" sz="1350" dirty="0"/>
          </a:p>
        </p:txBody>
      </p:sp>
      <p:sp>
        <p:nvSpPr>
          <p:cNvPr id="39" name="Text 6"/>
          <p:cNvSpPr/>
          <p:nvPr/>
        </p:nvSpPr>
        <p:spPr>
          <a:xfrm>
            <a:off x="3810000" y="3848100"/>
            <a:ext cx="167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使用Flask伺服器處理音訊並運行SER模型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6537960" y="3543300"/>
            <a:ext cx="2011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AI回覆生成</a:t>
            </a:r>
            <a:endParaRPr lang="en-US" sz="1350" dirty="0"/>
          </a:p>
        </p:txBody>
      </p:sp>
      <p:sp>
        <p:nvSpPr>
          <p:cNvPr id="41" name="Text 8"/>
          <p:cNvSpPr/>
          <p:nvPr/>
        </p:nvSpPr>
        <p:spPr>
          <a:xfrm>
            <a:off x="6705600" y="3848100"/>
            <a:ext cx="167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呼叫Gemini/OpenAI API生成個性化對話回覆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9433560" y="3543300"/>
            <a:ext cx="2011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個性化回覆</a:t>
            </a:r>
            <a:endParaRPr lang="en-US" sz="1350" dirty="0"/>
          </a:p>
        </p:txBody>
      </p:sp>
      <p:sp>
        <p:nvSpPr>
          <p:cNvPr id="43" name="Text 10"/>
          <p:cNvSpPr/>
          <p:nvPr/>
        </p:nvSpPr>
        <p:spPr>
          <a:xfrm>
            <a:off x="9601200" y="3848100"/>
            <a:ext cx="167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根據情緒狀態提供即時、有溫度的回覆</a:t>
            </a:r>
            <a:endParaRPr lang="en-US" sz="1050" dirty="0"/>
          </a:p>
        </p:txBody>
      </p:sp>
      <p:sp>
        <p:nvSpPr>
          <p:cNvPr id="44" name="Text 11"/>
          <p:cNvSpPr/>
          <p:nvPr/>
        </p:nvSpPr>
        <p:spPr>
          <a:xfrm>
            <a:off x="923925" y="49911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技術可行性細節</a:t>
            </a:r>
            <a:endParaRPr lang="en-US" sz="1500" dirty="0"/>
          </a:p>
        </p:txBody>
      </p:sp>
      <p:sp>
        <p:nvSpPr>
          <p:cNvPr id="45" name="Text 12"/>
          <p:cNvSpPr/>
          <p:nvPr/>
        </p:nvSpPr>
        <p:spPr>
          <a:xfrm>
            <a:off x="800100" y="5372100"/>
            <a:ext cx="30785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已成功整合Flutter語音錄製與上傳功能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800100" y="5676900"/>
            <a:ext cx="29973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Flask伺服器可穩定處理音訊分析請求</a:t>
            </a:r>
            <a:endParaRPr lang="en-US" sz="1200" dirty="0"/>
          </a:p>
        </p:txBody>
      </p:sp>
      <p:sp>
        <p:nvSpPr>
          <p:cNvPr id="47" name="Text 14"/>
          <p:cNvSpPr/>
          <p:nvPr/>
        </p:nvSpPr>
        <p:spPr>
          <a:xfrm>
            <a:off x="800100" y="5981700"/>
            <a:ext cx="2753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SER模型可準確識別多種情緒狀態</a:t>
            </a: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800100" y="6286500"/>
            <a:ext cx="2916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AI對話模型能根據情緒生成適切回覆</a:t>
            </a:r>
            <a:endParaRPr lang="en-US" sz="1200" dirty="0"/>
          </a:p>
        </p:txBody>
      </p:sp>
      <p:sp>
        <p:nvSpPr>
          <p:cNvPr id="49" name="Text 16"/>
          <p:cNvSpPr/>
          <p:nvPr/>
        </p:nvSpPr>
        <p:spPr>
          <a:xfrm>
            <a:off x="6657975" y="499110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技術創新價值</a:t>
            </a:r>
            <a:endParaRPr lang="en-US" sz="1500" dirty="0"/>
          </a:p>
        </p:txBody>
      </p:sp>
      <p:sp>
        <p:nvSpPr>
          <p:cNvPr id="50" name="Text 17"/>
          <p:cNvSpPr/>
          <p:nvPr/>
        </p:nvSpPr>
        <p:spPr>
          <a:xfrm>
            <a:off x="6648450" y="5372100"/>
            <a:ext cx="3098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語音分析與NLP對話系統有效協同工作</a:t>
            </a:r>
            <a:endParaRPr lang="en-US" sz="1200" dirty="0"/>
          </a:p>
        </p:txBody>
      </p:sp>
      <p:sp>
        <p:nvSpPr>
          <p:cNvPr id="51" name="Text 18"/>
          <p:cNvSpPr/>
          <p:nvPr/>
        </p:nvSpPr>
        <p:spPr>
          <a:xfrm>
            <a:off x="6648450" y="56769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提供多模態互動體驗，超越傳統文字輸入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6648450" y="59817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為未來人機互動提供新範式</a:t>
            </a:r>
            <a:endParaRPr lang="en-US" sz="1200" dirty="0"/>
          </a:p>
        </p:txBody>
      </p:sp>
      <p:sp>
        <p:nvSpPr>
          <p:cNvPr id="53" name="Text 20"/>
          <p:cNvSpPr/>
          <p:nvPr/>
        </p:nvSpPr>
        <p:spPr>
          <a:xfrm>
            <a:off x="6648450" y="62865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展現技術與心理健康結合的應用潛力</a:t>
            </a:r>
            <a:endParaRPr lang="en-US" sz="1200" dirty="0"/>
          </a:p>
        </p:txBody>
      </p:sp>
      <p:sp>
        <p:nvSpPr>
          <p:cNvPr id="54" name="Text 21"/>
          <p:cNvSpPr/>
          <p:nvPr/>
        </p:nvSpPr>
        <p:spPr>
          <a:xfrm>
            <a:off x="9459218" y="6705600"/>
            <a:ext cx="2822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MindEase：AI 情緒陪伴助理 | 8/10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09700"/>
            <a:ext cx="3606701" cy="32956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975" y="1638300"/>
            <a:ext cx="666750" cy="666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1475" y="1800225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9146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4861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0576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501" y="1409700"/>
            <a:ext cx="3606850" cy="32956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2476" y="1638300"/>
            <a:ext cx="666750" cy="6667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4876" y="1800225"/>
            <a:ext cx="3619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1101" y="29146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1101" y="34861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1101" y="40576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4150" y="1409700"/>
            <a:ext cx="3606701" cy="32956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74126" y="1638300"/>
            <a:ext cx="666750" cy="6667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64626" y="1800225"/>
            <a:ext cx="28575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2750" y="291465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2750" y="348615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32750" y="40576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5010150"/>
            <a:ext cx="11430000" cy="914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成效預估 - 社會影響與用戶價值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381000" y="866775"/>
            <a:ext cx="106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</a:t>
            </a:r>
            <a:endParaRPr lang="en-US" sz="1200" dirty="0"/>
          </a:p>
        </p:txBody>
      </p:sp>
      <p:sp>
        <p:nvSpPr>
          <p:cNvPr id="25" name="Text 2"/>
          <p:cNvSpPr/>
          <p:nvPr/>
        </p:nvSpPr>
        <p:spPr>
          <a:xfrm>
            <a:off x="1384250" y="245745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個人化心理干預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838200" y="287655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將技術應用於社會關懷領域，高度契合聯合國 SDG 目標 3（健康与福祉）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838200" y="344805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透過語音情感識別技術，提供即時且個人化的情緒支持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838200" y="401955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降低心理諮詢的時間與地理限制，提升心理健康資源可及性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5410051" y="245745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用戶體驗提升</a:t>
            </a:r>
            <a:endParaRPr lang="en-US" sz="1500" dirty="0"/>
          </a:p>
        </p:txBody>
      </p:sp>
      <p:sp>
        <p:nvSpPr>
          <p:cNvPr id="30" name="Text 7"/>
          <p:cNvSpPr/>
          <p:nvPr/>
        </p:nvSpPr>
        <p:spPr>
          <a:xfrm>
            <a:off x="4749701" y="2876550"/>
            <a:ext cx="2921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具備精緻、響應式的 Flutter UI，支援跨平台實機演示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4749701" y="3448050"/>
            <a:ext cx="2921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提供超越傳統 App 的精緻互動體驗，為使用者創造情感舒適區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4749701" y="4019550"/>
            <a:ext cx="2921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語音輸入與多模態互動，降低使用門檻，提升用戶參與度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9321701" y="245745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自我覺察賦能</a:t>
            </a:r>
            <a:endParaRPr lang="en-US" sz="1500" dirty="0"/>
          </a:p>
        </p:txBody>
      </p:sp>
      <p:sp>
        <p:nvSpPr>
          <p:cNvPr id="34" name="Text 11"/>
          <p:cNvSpPr/>
          <p:nvPr/>
        </p:nvSpPr>
        <p:spPr>
          <a:xfrm>
            <a:off x="8661350" y="287655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成功儲存並以圖表方式呈現情緒歷史數據，讓使用者能直觀理解情緒趨勢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8661350" y="344805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從追蹤到覺察，將情緒數據化為自我成長的工具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8661350" y="401955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透過數據視覺化，增強使用者對情緒週期與觸發因素的認識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571500" y="5200650"/>
            <a:ext cx="1104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 不僅是一個技術演示，更是一個完整的、即時回應的數位心理健康原型。它將在黑客松中以其強大的「多模態 AI 結合」和高度「社會關懷」的主題脫穎而出。</a:t>
            </a:r>
            <a:endParaRPr lang="en-US" sz="1350" dirty="0"/>
          </a:p>
        </p:txBody>
      </p:sp>
      <p:sp>
        <p:nvSpPr>
          <p:cNvPr id="38" name="Text 15"/>
          <p:cNvSpPr/>
          <p:nvPr/>
        </p:nvSpPr>
        <p:spPr>
          <a:xfrm>
            <a:off x="381000" y="615315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MindEase：AI 情緒陪伴助理 | 9/10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0" y="0"/>
            <a:ext cx="2381250" cy="1905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42925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81100"/>
            <a:ext cx="5562600" cy="3657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47800"/>
            <a:ext cx="257175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05000"/>
            <a:ext cx="5105400" cy="800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857500"/>
            <a:ext cx="5105400" cy="800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810000"/>
            <a:ext cx="5105400" cy="800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181100"/>
            <a:ext cx="5562600" cy="3657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447800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9050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1775" y="2019300"/>
            <a:ext cx="17145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28194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0825" y="2933700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37338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2250" y="3848100"/>
            <a:ext cx="1905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專題總結與展望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981075" y="1409700"/>
            <a:ext cx="510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專案價值總結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762000" y="1905000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CED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多模態 AI 整合創新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762000" y="2247900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成功整合語音情感識別(SER)與大型語言模型(LLM)，創造出能理解語音細微差異的情緒陪伴工具，超越傳統僅依賴文字輸入的應用。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762000" y="2857500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CED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技術可行性證明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762000" y="3200400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完整展示語音錄製→伺服器上傳/分析→AI即時回覆的工作流程，證實技術架構的可行性與效能。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762000" y="3810000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CED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社會關懷與實用性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762000" y="4152900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高度契合聯合國 SDG 目標 3（健康與福祉），為焦慮、壓力等情緒困擾人群提供即時、低門檻的情緒支持管道。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819900" y="1409700"/>
            <a:ext cx="510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未來展望</a:t>
            </a:r>
            <a:endParaRPr lang="en-US" sz="1800" dirty="0"/>
          </a:p>
        </p:txBody>
      </p:sp>
      <p:sp>
        <p:nvSpPr>
          <p:cNvPr id="28" name="Text 9"/>
          <p:cNvSpPr/>
          <p:nvPr/>
        </p:nvSpPr>
        <p:spPr>
          <a:xfrm>
            <a:off x="7010400" y="19050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A5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黑客松競爭優勢</a:t>
            </a:r>
            <a:endParaRPr lang="en-US" sz="1500" dirty="0"/>
          </a:p>
        </p:txBody>
      </p:sp>
      <p:sp>
        <p:nvSpPr>
          <p:cNvPr id="29" name="Text 10"/>
          <p:cNvSpPr/>
          <p:nvPr/>
        </p:nvSpPr>
        <p:spPr>
          <a:xfrm>
            <a:off x="7010400" y="2209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在黑客松中以「多模態 AI 結合」和「社會關懷」主題脫穎而出，展現技術創新與社會價值的完美結合。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7010400" y="28194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A5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功能擴展方向</a:t>
            </a:r>
            <a:endParaRPr lang="en-US" sz="1500" dirty="0"/>
          </a:p>
        </p:txBody>
      </p:sp>
      <p:sp>
        <p:nvSpPr>
          <p:cNvPr id="31" name="Text 12"/>
          <p:cNvSpPr/>
          <p:nvPr/>
        </p:nvSpPr>
        <p:spPr>
          <a:xfrm>
            <a:off x="7010400" y="3124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未來可整合睡眠追蹤、智能提醒、社群支持功能，打造全方位心理健康數位夥伴。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7010400" y="37338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A5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合作與應用場景</a:t>
            </a:r>
            <a:endParaRPr lang="en-US" sz="1500" dirty="0"/>
          </a:p>
        </p:txBody>
      </p:sp>
      <p:sp>
        <p:nvSpPr>
          <p:cNvPr id="33" name="Text 14"/>
          <p:cNvSpPr/>
          <p:nvPr/>
        </p:nvSpPr>
        <p:spPr>
          <a:xfrm>
            <a:off x="7010400" y="403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探索與企業 EAP、醫院心理健康部門、學校輔導中心等機構合作，擴大應用場景與影響力。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-762000" y="5143500"/>
            <a:ext cx="137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「MindEase 不僅是一個技術演示，更是一個完整的、即時回應的數位心理健康原型。」</a:t>
            </a:r>
            <a:endParaRPr lang="en-US" sz="1500" dirty="0"/>
          </a:p>
        </p:txBody>
      </p:sp>
      <p:sp>
        <p:nvSpPr>
          <p:cNvPr id="35" name="Text 16"/>
          <p:cNvSpPr/>
          <p:nvPr/>
        </p:nvSpPr>
        <p:spPr>
          <a:xfrm>
            <a:off x="381000" y="56388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MindEase：AI 情緒陪伴助理 | 10/10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2025-11-06T15:45:50Z</dcterms:created>
  <dcterms:modified xsi:type="dcterms:W3CDTF">2025-11-06T15:45:50Z</dcterms:modified>
</cp:coreProperties>
</file>